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363" r:id="rId4"/>
    <p:sldId id="369" r:id="rId5"/>
    <p:sldId id="365" r:id="rId6"/>
    <p:sldId id="366" r:id="rId7"/>
    <p:sldId id="367" r:id="rId8"/>
    <p:sldId id="370" r:id="rId9"/>
    <p:sldId id="368" r:id="rId10"/>
    <p:sldId id="371" r:id="rId11"/>
    <p:sldId id="372" r:id="rId12"/>
    <p:sldId id="373" r:id="rId13"/>
    <p:sldId id="364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35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5340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179ce39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a179ce393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g3a179ce393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179ce39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a179ce393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g3a179ce393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179ce39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a179ce393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g3a179ce393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179ce39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a179ce393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g3a179ce393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179ce39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a179ce393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g3a179ce393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 l="-999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 l="-999"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1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eloper.mozilla.org/en-US/docs/Web/Events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 l="-4999" r="-4998"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609600" y="6165304"/>
            <a:ext cx="8305800" cy="67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EF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smtClean="0">
                <a:solidFill>
                  <a:schemeClr val="tx1"/>
                </a:solidFill>
              </a:rPr>
              <a:t>JAVA</a:t>
            </a:r>
            <a:r>
              <a:rPr lang="ru-RU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smtClean="0">
                <a:solidFill>
                  <a:schemeClr val="tx1"/>
                </a:solidFill>
              </a:rPr>
              <a:t>SCRIPT </a:t>
            </a:r>
            <a:r>
              <a:rPr lang="en-US" sz="3200" b="1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(DOM)</a:t>
            </a:r>
            <a:endParaRPr sz="20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07704" y="620688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Bookman Old Style" panose="02050604050505020204" pitchFamily="18" charset="0"/>
              </a:rPr>
              <a:t>DOM</a:t>
            </a:r>
            <a:endParaRPr lang="ru-RU" sz="3200" b="1" dirty="0"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7544" y="1124744"/>
            <a:ext cx="806489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500" b="1" dirty="0" smtClean="0">
                <a:latin typeface="Bookman Old Style" panose="02050604050505020204" pitchFamily="18" charset="0"/>
              </a:rPr>
              <a:t>DOM (Document Object Model) </a:t>
            </a:r>
            <a:r>
              <a:rPr lang="en-US" sz="1500" dirty="0" smtClean="0">
                <a:latin typeface="Bookman Old Style" panose="02050604050505020204" pitchFamily="18" charset="0"/>
              </a:rPr>
              <a:t>– </a:t>
            </a:r>
            <a:r>
              <a:rPr lang="ru-RU" sz="1500" dirty="0" smtClean="0">
                <a:latin typeface="Bookman Old Style" panose="02050604050505020204" pitchFamily="18" charset="0"/>
              </a:rPr>
              <a:t>это объектная модель документа, которая не зависит от платформы и языка программного интерфейса, и позволяет программам и скриптам получить доступ к содержимому </a:t>
            </a:r>
            <a:r>
              <a:rPr lang="en-US" sz="1500" dirty="0" smtClean="0">
                <a:latin typeface="Bookman Old Style" panose="02050604050505020204" pitchFamily="18" charset="0"/>
              </a:rPr>
              <a:t>HTML-, XHTML- </a:t>
            </a:r>
            <a:r>
              <a:rPr lang="ru-RU" sz="1500" dirty="0" smtClean="0">
                <a:latin typeface="Bookman Old Style" panose="02050604050505020204" pitchFamily="18" charset="0"/>
              </a:rPr>
              <a:t>и </a:t>
            </a:r>
            <a:r>
              <a:rPr lang="en-US" sz="1500" dirty="0" smtClean="0">
                <a:latin typeface="Bookman Old Style" panose="02050604050505020204" pitchFamily="18" charset="0"/>
              </a:rPr>
              <a:t>XML-</a:t>
            </a:r>
            <a:r>
              <a:rPr lang="ru-RU" sz="1500" dirty="0" smtClean="0">
                <a:latin typeface="Bookman Old Style" panose="02050604050505020204" pitchFamily="18" charset="0"/>
              </a:rPr>
              <a:t>документов, а также изменять из содержимое, структуру и оформление таких документов.</a:t>
            </a:r>
          </a:p>
          <a:p>
            <a:pPr algn="just"/>
            <a:endParaRPr lang="ru-RU" sz="1500" dirty="0">
              <a:latin typeface="Bookman Old Style" panose="02050604050505020204" pitchFamily="18" charset="0"/>
            </a:endParaRPr>
          </a:p>
          <a:p>
            <a:pPr algn="just"/>
            <a:r>
              <a:rPr lang="en-US" sz="1500" dirty="0" smtClean="0">
                <a:latin typeface="Bookman Old Style" panose="02050604050505020204" pitchFamily="18" charset="0"/>
              </a:rPr>
              <a:t>DOM</a:t>
            </a:r>
            <a:r>
              <a:rPr lang="ru-RU" sz="1500" dirty="0" smtClean="0">
                <a:latin typeface="Bookman Old Style" panose="02050604050505020204" pitchFamily="18" charset="0"/>
              </a:rPr>
              <a:t> требуется для скриптов </a:t>
            </a:r>
            <a:r>
              <a:rPr lang="en-US" sz="1500" dirty="0" smtClean="0">
                <a:latin typeface="Bookman Old Style" panose="02050604050505020204" pitchFamily="18" charset="0"/>
              </a:rPr>
              <a:t>JavaScript</a:t>
            </a:r>
            <a:r>
              <a:rPr lang="ru-RU" sz="1500" dirty="0" smtClean="0">
                <a:latin typeface="Bookman Old Style" panose="02050604050505020204" pitchFamily="18" charset="0"/>
              </a:rPr>
              <a:t>, которые изменяю веб-страницу динамически. Другими словами </a:t>
            </a:r>
            <a:r>
              <a:rPr lang="en-US" sz="1500" dirty="0" smtClean="0">
                <a:latin typeface="Bookman Old Style" panose="02050604050505020204" pitchFamily="18" charset="0"/>
              </a:rPr>
              <a:t>DOM – </a:t>
            </a:r>
            <a:r>
              <a:rPr lang="ru-RU" sz="1500" dirty="0" smtClean="0">
                <a:latin typeface="Bookman Old Style" panose="02050604050505020204" pitchFamily="18" charset="0"/>
              </a:rPr>
              <a:t>это инструмент, с помощью которого </a:t>
            </a:r>
            <a:r>
              <a:rPr lang="en-US" sz="1500" dirty="0" smtClean="0">
                <a:latin typeface="Bookman Old Style" panose="02050604050505020204" pitchFamily="18" charset="0"/>
              </a:rPr>
              <a:t>JavaScript</a:t>
            </a:r>
            <a:r>
              <a:rPr lang="ru-RU" sz="1500" dirty="0" smtClean="0">
                <a:latin typeface="Bookman Old Style" panose="02050604050505020204" pitchFamily="18" charset="0"/>
              </a:rPr>
              <a:t> видит содержимое </a:t>
            </a:r>
            <a:r>
              <a:rPr lang="en-US" sz="1500" dirty="0" smtClean="0">
                <a:latin typeface="Bookman Old Style" panose="02050604050505020204" pitchFamily="18" charset="0"/>
              </a:rPr>
              <a:t>HTML-</a:t>
            </a:r>
            <a:r>
              <a:rPr lang="ru-RU" sz="1500" dirty="0" smtClean="0">
                <a:latin typeface="Bookman Old Style" panose="02050604050505020204" pitchFamily="18" charset="0"/>
              </a:rPr>
              <a:t>страницы и состояние браузера</a:t>
            </a:r>
          </a:p>
          <a:p>
            <a:pPr algn="just"/>
            <a:endParaRPr lang="ru-RU" sz="1500" dirty="0"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>
                <a:latin typeface="Bookman Old Style" panose="02050604050505020204" pitchFamily="18" charset="0"/>
              </a:rPr>
              <a:t>w</a:t>
            </a:r>
            <a:r>
              <a:rPr lang="en-US" sz="1500" b="1" dirty="0" smtClean="0">
                <a:latin typeface="Bookman Old Style" panose="02050604050505020204" pitchFamily="18" charset="0"/>
              </a:rPr>
              <a:t>indow</a:t>
            </a:r>
            <a:r>
              <a:rPr lang="en-US" sz="1500" dirty="0" smtClean="0">
                <a:latin typeface="Bookman Old Style" panose="02050604050505020204" pitchFamily="18" charset="0"/>
              </a:rPr>
              <a:t> – </a:t>
            </a:r>
            <a:r>
              <a:rPr lang="ru-RU" sz="1500" dirty="0" smtClean="0">
                <a:latin typeface="Bookman Old Style" panose="02050604050505020204" pitchFamily="18" charset="0"/>
              </a:rPr>
              <a:t>глобальный объект </a:t>
            </a:r>
            <a:r>
              <a:rPr lang="en-US" sz="1500" dirty="0" smtClean="0">
                <a:latin typeface="Bookman Old Style" panose="02050604050505020204" pitchFamily="18" charset="0"/>
              </a:rPr>
              <a:t>JavaScript</a:t>
            </a:r>
            <a:r>
              <a:rPr lang="ru-RU" sz="1500" dirty="0" smtClean="0">
                <a:latin typeface="Bookman Old Style" panose="02050604050505020204" pitchFamily="18" charset="0"/>
              </a:rPr>
              <a:t>, который также является окном браузера. При обращении к переменным или функциям, которые не найдены локально, они ищутся в объекте </a:t>
            </a:r>
            <a:r>
              <a:rPr lang="en-US" sz="1500" dirty="0" smtClean="0">
                <a:latin typeface="Bookman Old Style" panose="02050604050505020204" pitchFamily="18" charset="0"/>
              </a:rPr>
              <a:t>window</a:t>
            </a:r>
            <a:r>
              <a:rPr lang="ru-RU" sz="1500" dirty="0" smtClean="0">
                <a:latin typeface="Bookman Old Style" panose="02050604050505020204" pitchFamily="18" charset="0"/>
              </a:rPr>
              <a:t>,  поэтому при обращении к переменным и функциям </a:t>
            </a:r>
            <a:r>
              <a:rPr lang="en-US" sz="1500" dirty="0" smtClean="0">
                <a:latin typeface="Bookman Old Style" panose="02050604050505020204" pitchFamily="18" charset="0"/>
              </a:rPr>
              <a:t>window</a:t>
            </a:r>
            <a:r>
              <a:rPr lang="ru-RU" sz="1500" dirty="0" smtClean="0">
                <a:latin typeface="Bookman Old Style" panose="02050604050505020204" pitchFamily="18" charset="0"/>
              </a:rPr>
              <a:t> это слово не указывается.</a:t>
            </a:r>
          </a:p>
          <a:p>
            <a:pPr algn="just"/>
            <a:endParaRPr lang="ru-RU" sz="1500" dirty="0"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 smtClean="0">
                <a:latin typeface="Bookman Old Style" panose="02050604050505020204" pitchFamily="18" charset="0"/>
              </a:rPr>
              <a:t>document</a:t>
            </a:r>
            <a:r>
              <a:rPr lang="en-US" sz="1500" dirty="0" smtClean="0">
                <a:latin typeface="Bookman Old Style" panose="02050604050505020204" pitchFamily="18" charset="0"/>
              </a:rPr>
              <a:t> – </a:t>
            </a:r>
            <a:r>
              <a:rPr lang="ru-RU" sz="1500" dirty="0" smtClean="0">
                <a:latin typeface="Bookman Old Style" panose="02050604050505020204" pitchFamily="18" charset="0"/>
              </a:rPr>
              <a:t>точка входа для получения содержимого веб-страницы (всего </a:t>
            </a:r>
            <a:r>
              <a:rPr lang="en-US" sz="1500" dirty="0" smtClean="0">
                <a:latin typeface="Bookman Old Style" panose="02050604050505020204" pitchFamily="18" charset="0"/>
              </a:rPr>
              <a:t>DOM-</a:t>
            </a:r>
            <a:r>
              <a:rPr lang="ru-RU" sz="1500" dirty="0" smtClean="0">
                <a:latin typeface="Bookman Old Style" panose="02050604050505020204" pitchFamily="18" charset="0"/>
              </a:rPr>
              <a:t>дерева), а также обеспечивает функциональность, которая является глобальной для документа, например, для получения элементов страницы, </a:t>
            </a:r>
            <a:r>
              <a:rPr lang="en-US" sz="1500" dirty="0" smtClean="0">
                <a:latin typeface="Bookman Old Style" panose="02050604050505020204" pitchFamily="18" charset="0"/>
              </a:rPr>
              <a:t>URL-</a:t>
            </a:r>
            <a:r>
              <a:rPr lang="ru-RU" sz="1500" dirty="0" smtClean="0">
                <a:latin typeface="Bookman Old Style" panose="02050604050505020204" pitchFamily="18" charset="0"/>
              </a:rPr>
              <a:t>адреса страницы, или создания новых элементов в документе.</a:t>
            </a:r>
          </a:p>
          <a:p>
            <a:pPr algn="just"/>
            <a:endParaRPr lang="ru-RU" sz="1500" dirty="0">
              <a:latin typeface="Bookman Old Style" panose="02050604050505020204" pitchFamily="18" charset="0"/>
            </a:endParaRPr>
          </a:p>
          <a:p>
            <a:pPr algn="just"/>
            <a:r>
              <a:rPr lang="en-US" sz="1500" dirty="0" smtClean="0">
                <a:latin typeface="Bookman Old Style" panose="02050604050505020204" pitchFamily="18" charset="0"/>
              </a:rPr>
              <a:t>document </a:t>
            </a:r>
            <a:r>
              <a:rPr lang="ru-RU" sz="1500" dirty="0" smtClean="0">
                <a:latin typeface="Bookman Old Style" panose="02050604050505020204" pitchFamily="18" charset="0"/>
              </a:rPr>
              <a:t>является переменной (объектом) объекта </a:t>
            </a:r>
            <a:r>
              <a:rPr lang="en-US" sz="1500" dirty="0" smtClean="0">
                <a:latin typeface="Bookman Old Style" panose="02050604050505020204" pitchFamily="18" charset="0"/>
              </a:rPr>
              <a:t>window</a:t>
            </a:r>
            <a:r>
              <a:rPr lang="ru-RU" sz="1500" dirty="0" smtClean="0">
                <a:latin typeface="Bookman Old Style" panose="02050604050505020204" pitchFamily="18" charset="0"/>
              </a:rPr>
              <a:t>, поэтому при обращении к </a:t>
            </a:r>
            <a:r>
              <a:rPr lang="en-US" sz="1500" dirty="0" smtClean="0">
                <a:latin typeface="Bookman Old Style" panose="02050604050505020204" pitchFamily="18" charset="0"/>
              </a:rPr>
              <a:t>document</a:t>
            </a:r>
            <a:r>
              <a:rPr lang="ru-RU" sz="1500" dirty="0" smtClean="0">
                <a:latin typeface="Bookman Old Style" panose="02050604050505020204" pitchFamily="18" charset="0"/>
              </a:rPr>
              <a:t> нам не нужно указывать </a:t>
            </a:r>
            <a:r>
              <a:rPr lang="en-US" sz="1500" dirty="0" smtClean="0">
                <a:latin typeface="Bookman Old Style" panose="02050604050505020204" pitchFamily="18" charset="0"/>
              </a:rPr>
              <a:t>window</a:t>
            </a:r>
            <a:endParaRPr lang="ru-RU" sz="1500" dirty="0" smtClean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Объекты window и document | Libless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097416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620688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Bookman Old Style" panose="02050604050505020204" pitchFamily="18" charset="0"/>
              </a:rPr>
              <a:t>ОБЪЕКТНАЯ МОДЕЛЬ БРАУЗЕРА</a:t>
            </a:r>
            <a:endParaRPr lang="ru-RU" sz="3200" b="1" dirty="0">
              <a:latin typeface="Bookman Old Style" panose="02050604050505020204" pitchFamily="18" charset="0"/>
            </a:endParaRPr>
          </a:p>
        </p:txBody>
      </p:sp>
      <p:sp>
        <p:nvSpPr>
          <p:cNvPr id="3" name="AutoShape 2" descr="https://previews.dropbox.com/p/thumb/ABAGK9H7a81fbpyPOaGLCYPlCZRk9EeewP5MC55IoMDaD8UqtbtffroWsCKDesyE_KDrmjUPjUe1J9nduN1H5sYWNieq2qoUvVuR7n5vnlh5264Q1benAF6OmyMrZkbuwl53bSbPCT0SBkeePzuBUmoQFDj0yTXw-Ehhwdmz9Tteii-F5SGHx0b72MLcNwuKkiiqpViqvuBE8XkYjgj0hVuD990mADRwAtaBNVAzmTcW4_ePnHYuskd9K1StR12hykTVAYy6D-AfX-Y8A3fEAWagweIb4yTnOlTCHl7LPLc9NkXJlwy1WcS6bIf-y6_AlVY-u8iPSOzsallZ_SudQZxx-K6I-XQIACDWCDXKnhbcTA/p.png?fv_content=true&amp;size_mode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31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512" y="620688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Bookman Old Style" panose="02050604050505020204" pitchFamily="18" charset="0"/>
              </a:rPr>
              <a:t>ПОЛУЧЕНИЕ </a:t>
            </a:r>
            <a:r>
              <a:rPr lang="en-US" sz="3200" b="1" dirty="0" smtClean="0">
                <a:latin typeface="Bookman Old Style" panose="02050604050505020204" pitchFamily="18" charset="0"/>
              </a:rPr>
              <a:t>DOM</a:t>
            </a:r>
            <a:r>
              <a:rPr lang="ru-RU" sz="3200" b="1" dirty="0" smtClean="0">
                <a:latin typeface="Bookman Old Style" panose="02050604050505020204" pitchFamily="18" charset="0"/>
              </a:rPr>
              <a:t> ЭЛЕМЕНТА</a:t>
            </a:r>
            <a:endParaRPr lang="ru-RU" sz="3200" b="1" dirty="0"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7544" y="1124744"/>
            <a:ext cx="8064896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500" b="1" dirty="0" err="1" smtClean="0">
                <a:latin typeface="Bookman Old Style" panose="02050604050505020204" pitchFamily="18" charset="0"/>
              </a:rPr>
              <a:t>getElementById</a:t>
            </a:r>
            <a:r>
              <a:rPr lang="en-US" sz="1500" b="1" dirty="0" smtClean="0">
                <a:latin typeface="Bookman Old Style" panose="02050604050505020204" pitchFamily="18" charset="0"/>
              </a:rPr>
              <a:t>(‘id’), </a:t>
            </a:r>
            <a:endParaRPr lang="ru-RU" sz="1500" b="1" dirty="0" smtClean="0"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 err="1" smtClean="0">
                <a:latin typeface="Bookman Old Style" panose="02050604050505020204" pitchFamily="18" charset="0"/>
              </a:rPr>
              <a:t>getElementByClassName</a:t>
            </a:r>
            <a:r>
              <a:rPr lang="en-US" sz="1500" b="1" dirty="0" smtClean="0">
                <a:latin typeface="Bookman Old Style" panose="02050604050505020204" pitchFamily="18" charset="0"/>
              </a:rPr>
              <a:t>(‘</a:t>
            </a:r>
            <a:r>
              <a:rPr lang="en-US" sz="1500" b="1" dirty="0" err="1" smtClean="0">
                <a:latin typeface="Bookman Old Style" panose="02050604050505020204" pitchFamily="18" charset="0"/>
              </a:rPr>
              <a:t>className</a:t>
            </a:r>
            <a:r>
              <a:rPr lang="en-US" sz="1500" b="1" dirty="0" smtClean="0">
                <a:latin typeface="Bookman Old Style" panose="02050604050505020204" pitchFamily="18" charset="0"/>
              </a:rPr>
              <a:t>’), </a:t>
            </a:r>
            <a:endParaRPr lang="ru-RU" sz="1500" b="1" dirty="0" smtClean="0"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 err="1" smtClean="0">
                <a:latin typeface="Bookman Old Style" panose="02050604050505020204" pitchFamily="18" charset="0"/>
              </a:rPr>
              <a:t>getElementByTagName</a:t>
            </a:r>
            <a:r>
              <a:rPr lang="en-US" sz="1500" b="1" dirty="0" smtClean="0">
                <a:latin typeface="Bookman Old Style" panose="02050604050505020204" pitchFamily="18" charset="0"/>
              </a:rPr>
              <a:t>(‘</a:t>
            </a:r>
            <a:r>
              <a:rPr lang="en-US" sz="1500" b="1" dirty="0" err="1" smtClean="0">
                <a:latin typeface="Bookman Old Style" panose="02050604050505020204" pitchFamily="18" charset="0"/>
              </a:rPr>
              <a:t>tagName</a:t>
            </a:r>
            <a:r>
              <a:rPr lang="en-US" sz="1500" b="1" dirty="0" smtClean="0">
                <a:latin typeface="Bookman Old Style" panose="02050604050505020204" pitchFamily="18" charset="0"/>
              </a:rPr>
              <a:t>’) – </a:t>
            </a:r>
            <a:r>
              <a:rPr lang="ru-RU" sz="1500" dirty="0">
                <a:latin typeface="Bookman Old Style" panose="02050604050505020204" pitchFamily="18" charset="0"/>
              </a:rPr>
              <a:t> </a:t>
            </a:r>
            <a:r>
              <a:rPr lang="ru-RU" sz="1500" dirty="0" smtClean="0">
                <a:latin typeface="Bookman Old Style" panose="02050604050505020204" pitchFamily="18" charset="0"/>
              </a:rPr>
              <a:t>это функции объекта </a:t>
            </a:r>
            <a:r>
              <a:rPr lang="en-US" sz="1500" dirty="0" smtClean="0">
                <a:latin typeface="Bookman Old Style" panose="02050604050505020204" pitchFamily="18" charset="0"/>
              </a:rPr>
              <a:t>document</a:t>
            </a:r>
            <a:r>
              <a:rPr lang="ru-RU" sz="1500" dirty="0" smtClean="0">
                <a:latin typeface="Bookman Old Style" panose="02050604050505020204" pitchFamily="18" charset="0"/>
              </a:rPr>
              <a:t>, которые позволяют получить ссылку на </a:t>
            </a:r>
            <a:r>
              <a:rPr lang="en-US" sz="1500" dirty="0" smtClean="0">
                <a:latin typeface="Bookman Old Style" panose="02050604050505020204" pitchFamily="18" charset="0"/>
              </a:rPr>
              <a:t>DOM</a:t>
            </a:r>
            <a:r>
              <a:rPr lang="ru-RU" sz="1500" dirty="0" smtClean="0">
                <a:latin typeface="Bookman Old Style" panose="02050604050505020204" pitchFamily="18" charset="0"/>
              </a:rPr>
              <a:t> элемент, используя определенный селектор – а именно класс, тэг, либо </a:t>
            </a:r>
            <a:r>
              <a:rPr lang="en-US" sz="1500" dirty="0" smtClean="0">
                <a:latin typeface="Bookman Old Style" panose="02050604050505020204" pitchFamily="18" charset="0"/>
              </a:rPr>
              <a:t>id</a:t>
            </a:r>
            <a:r>
              <a:rPr lang="ru-RU" sz="1500" dirty="0" smtClean="0">
                <a:latin typeface="Bookman Old Style" panose="02050604050505020204" pitchFamily="18" charset="0"/>
              </a:rPr>
              <a:t>. На данный момент считаются устаревшими.</a:t>
            </a:r>
          </a:p>
          <a:p>
            <a:pPr algn="just"/>
            <a:endParaRPr lang="ru-RU" sz="15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 err="1" smtClean="0">
                <a:latin typeface="Bookman Old Style" panose="02050604050505020204" pitchFamily="18" charset="0"/>
              </a:rPr>
              <a:t>querySelector</a:t>
            </a:r>
            <a:r>
              <a:rPr lang="en-US" sz="1500" b="1" dirty="0" smtClean="0">
                <a:latin typeface="Bookman Old Style" panose="02050604050505020204" pitchFamily="18" charset="0"/>
              </a:rPr>
              <a:t>(‘</a:t>
            </a:r>
            <a:r>
              <a:rPr lang="en-US" sz="1500" b="1" dirty="0" err="1" smtClean="0">
                <a:latin typeface="Bookman Old Style" panose="02050604050505020204" pitchFamily="18" charset="0"/>
              </a:rPr>
              <a:t>css</a:t>
            </a:r>
            <a:r>
              <a:rPr lang="en-US" sz="1500" b="1" dirty="0" smtClean="0">
                <a:latin typeface="Bookman Old Style" panose="02050604050505020204" pitchFamily="18" charset="0"/>
              </a:rPr>
              <a:t>-selector’) – </a:t>
            </a:r>
            <a:r>
              <a:rPr lang="ru-RU" sz="1500" dirty="0" smtClean="0">
                <a:latin typeface="Bookman Old Style" panose="02050604050505020204" pitchFamily="18" charset="0"/>
              </a:rPr>
              <a:t>функция объекта </a:t>
            </a:r>
            <a:r>
              <a:rPr lang="en-US" sz="1500" dirty="0" smtClean="0">
                <a:latin typeface="Bookman Old Style" panose="02050604050505020204" pitchFamily="18" charset="0"/>
              </a:rPr>
              <a:t>document</a:t>
            </a:r>
            <a:r>
              <a:rPr lang="ru-RU" sz="1500" dirty="0" smtClean="0">
                <a:latin typeface="Bookman Old Style" panose="02050604050505020204" pitchFamily="18" charset="0"/>
              </a:rPr>
              <a:t>, которая позволяет получить ссылку на </a:t>
            </a:r>
            <a:r>
              <a:rPr lang="en-US" sz="1500" dirty="0" smtClean="0">
                <a:latin typeface="Bookman Old Style" panose="02050604050505020204" pitchFamily="18" charset="0"/>
              </a:rPr>
              <a:t>DOM</a:t>
            </a:r>
            <a:r>
              <a:rPr lang="ru-RU" sz="1500" dirty="0" smtClean="0">
                <a:latin typeface="Bookman Old Style" panose="02050604050505020204" pitchFamily="18" charset="0"/>
              </a:rPr>
              <a:t> элемент, используя </a:t>
            </a:r>
            <a:r>
              <a:rPr lang="en-US" sz="1500" dirty="0" err="1" smtClean="0">
                <a:latin typeface="Bookman Old Style" panose="02050604050505020204" pitchFamily="18" charset="0"/>
              </a:rPr>
              <a:t>css</a:t>
            </a:r>
            <a:r>
              <a:rPr lang="en-US" sz="1500" dirty="0" smtClean="0">
                <a:latin typeface="Bookman Old Style" panose="02050604050505020204" pitchFamily="18" charset="0"/>
              </a:rPr>
              <a:t>-selector</a:t>
            </a:r>
            <a:r>
              <a:rPr lang="ru-RU" sz="1500" dirty="0" smtClean="0">
                <a:latin typeface="Bookman Old Style" panose="02050604050505020204" pitchFamily="18" charset="0"/>
              </a:rPr>
              <a:t>. Если элемент не будет найдет, но функция вернет </a:t>
            </a:r>
            <a:r>
              <a:rPr lang="en-US" sz="1500" dirty="0" smtClean="0">
                <a:latin typeface="Bookman Old Style" panose="02050604050505020204" pitchFamily="18" charset="0"/>
              </a:rPr>
              <a:t>null</a:t>
            </a:r>
            <a:r>
              <a:rPr lang="ru-RU" sz="1500" dirty="0" smtClean="0">
                <a:latin typeface="Bookman Old Style" panose="02050604050505020204" pitchFamily="18" charset="0"/>
              </a:rPr>
              <a:t>. Если на странице будет несколько элементов, которые соответствуют селектору, то вернется только самый первый в иерархии.</a:t>
            </a:r>
          </a:p>
          <a:p>
            <a:pPr algn="just"/>
            <a:endParaRPr lang="ru-RU" sz="1500" b="1" dirty="0"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 err="1" smtClean="0">
                <a:latin typeface="Bookman Old Style" panose="02050604050505020204" pitchFamily="18" charset="0"/>
              </a:rPr>
              <a:t>querySelectorAll</a:t>
            </a:r>
            <a:r>
              <a:rPr lang="en-US" sz="1500" b="1" dirty="0" smtClean="0">
                <a:latin typeface="Bookman Old Style" panose="02050604050505020204" pitchFamily="18" charset="0"/>
              </a:rPr>
              <a:t>(‘</a:t>
            </a:r>
            <a:r>
              <a:rPr lang="en-US" sz="1500" b="1" dirty="0" err="1" smtClean="0">
                <a:latin typeface="Bookman Old Style" panose="02050604050505020204" pitchFamily="18" charset="0"/>
              </a:rPr>
              <a:t>css</a:t>
            </a:r>
            <a:r>
              <a:rPr lang="en-US" sz="1500" b="1" dirty="0" smtClean="0">
                <a:latin typeface="Bookman Old Style" panose="02050604050505020204" pitchFamily="18" charset="0"/>
              </a:rPr>
              <a:t>-selector’)</a:t>
            </a:r>
            <a:r>
              <a:rPr lang="ru-RU" sz="1500" b="1" dirty="0" smtClean="0">
                <a:latin typeface="Bookman Old Style" panose="02050604050505020204" pitchFamily="18" charset="0"/>
              </a:rPr>
              <a:t> – </a:t>
            </a:r>
            <a:r>
              <a:rPr lang="ru-RU" sz="1500" dirty="0" smtClean="0">
                <a:latin typeface="Bookman Old Style" panose="02050604050505020204" pitchFamily="18" charset="0"/>
              </a:rPr>
              <a:t>функция объекта </a:t>
            </a:r>
            <a:r>
              <a:rPr lang="en-US" sz="1500" dirty="0" smtClean="0">
                <a:latin typeface="Bookman Old Style" panose="02050604050505020204" pitchFamily="18" charset="0"/>
              </a:rPr>
              <a:t>document</a:t>
            </a:r>
            <a:r>
              <a:rPr lang="ru-RU" sz="1500" dirty="0" smtClean="0">
                <a:latin typeface="Bookman Old Style" panose="02050604050505020204" pitchFamily="18" charset="0"/>
              </a:rPr>
              <a:t>, которая позволяет получить список (группу) элементов, которые соответствуют указанному </a:t>
            </a:r>
            <a:r>
              <a:rPr lang="en-US" sz="1500" dirty="0" err="1" smtClean="0">
                <a:latin typeface="Bookman Old Style" panose="02050604050505020204" pitchFamily="18" charset="0"/>
              </a:rPr>
              <a:t>css</a:t>
            </a:r>
            <a:r>
              <a:rPr lang="en-US" sz="1500" dirty="0" smtClean="0">
                <a:latin typeface="Bookman Old Style" panose="02050604050505020204" pitchFamily="18" charset="0"/>
              </a:rPr>
              <a:t>-selector</a:t>
            </a:r>
            <a:r>
              <a:rPr lang="ru-RU" sz="1500" dirty="0" smtClean="0">
                <a:latin typeface="Bookman Old Style" panose="02050604050505020204" pitchFamily="18" charset="0"/>
              </a:rPr>
              <a:t>. Если ни один элемент не будет найдет, то функция вернет </a:t>
            </a:r>
            <a:r>
              <a:rPr lang="en-US" sz="1500" dirty="0" smtClean="0">
                <a:latin typeface="Bookman Old Style" panose="02050604050505020204" pitchFamily="18" charset="0"/>
              </a:rPr>
              <a:t>null</a:t>
            </a:r>
            <a:endParaRPr lang="ru-RU" sz="15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41" y="4650697"/>
            <a:ext cx="7219302" cy="1701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79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512" y="620688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</a:rPr>
              <a:t>ВЗАИМОДЕЙСТВИЕ С </a:t>
            </a:r>
            <a:r>
              <a:rPr lang="en-US" sz="2800" b="1" dirty="0" smtClean="0">
                <a:latin typeface="Bookman Old Style" panose="02050604050505020204" pitchFamily="18" charset="0"/>
              </a:rPr>
              <a:t>DOM</a:t>
            </a:r>
            <a:r>
              <a:rPr lang="ru-RU" sz="2800" b="1" dirty="0" smtClean="0">
                <a:latin typeface="Bookman Old Style" panose="02050604050505020204" pitchFamily="18" charset="0"/>
              </a:rPr>
              <a:t> ЭЛЕМЕНТОМ</a:t>
            </a:r>
            <a:endParaRPr lang="ru-RU" sz="2800" b="1" dirty="0"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7544" y="1143908"/>
            <a:ext cx="8064896" cy="5709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Bookman Old Style" panose="02050604050505020204" pitchFamily="18" charset="0"/>
              </a:rPr>
              <a:t>Основное назначение </a:t>
            </a:r>
            <a:r>
              <a:rPr lang="en-US" dirty="0" smtClean="0">
                <a:latin typeface="Bookman Old Style" panose="02050604050505020204" pitchFamily="18" charset="0"/>
              </a:rPr>
              <a:t>JS – </a:t>
            </a:r>
            <a:r>
              <a:rPr lang="ru-RU" dirty="0" smtClean="0">
                <a:latin typeface="Bookman Old Style" panose="02050604050505020204" pitchFamily="18" charset="0"/>
              </a:rPr>
              <a:t>взаимодействовать со страницей и изменять свойства элементов.</a:t>
            </a:r>
            <a:r>
              <a:rPr lang="en-US" dirty="0" smtClean="0">
                <a:latin typeface="Bookman Old Style" panose="02050604050505020204" pitchFamily="18" charset="0"/>
              </a:rPr>
              <a:t> DOM</a:t>
            </a:r>
            <a:r>
              <a:rPr lang="ru-RU" dirty="0" smtClean="0">
                <a:latin typeface="Bookman Old Style" panose="02050604050505020204" pitchFamily="18" charset="0"/>
              </a:rPr>
              <a:t> элемент, который мы получаем с помощью </a:t>
            </a:r>
            <a:r>
              <a:rPr lang="en-US" dirty="0" err="1" smtClean="0">
                <a:latin typeface="Bookman Old Style" panose="02050604050505020204" pitchFamily="18" charset="0"/>
              </a:rPr>
              <a:t>querySelector</a:t>
            </a:r>
            <a:r>
              <a:rPr lang="en-US" dirty="0" smtClean="0">
                <a:latin typeface="Bookman Old Style" panose="02050604050505020204" pitchFamily="18" charset="0"/>
              </a:rPr>
              <a:t> </a:t>
            </a:r>
            <a:r>
              <a:rPr lang="ru-RU" dirty="0" smtClean="0">
                <a:latin typeface="Bookman Old Style" panose="02050604050505020204" pitchFamily="18" charset="0"/>
              </a:rPr>
              <a:t> или </a:t>
            </a:r>
            <a:r>
              <a:rPr lang="en-US" dirty="0" err="1" smtClean="0">
                <a:latin typeface="Bookman Old Style" panose="02050604050505020204" pitchFamily="18" charset="0"/>
              </a:rPr>
              <a:t>querySelectorAll</a:t>
            </a:r>
            <a:r>
              <a:rPr lang="ru-RU" dirty="0" smtClean="0">
                <a:latin typeface="Bookman Old Style" panose="02050604050505020204" pitchFamily="18" charset="0"/>
              </a:rPr>
              <a:t> являются объектами со свойствами, которые мы можем динамически изменять</a:t>
            </a:r>
          </a:p>
          <a:p>
            <a:pPr algn="just"/>
            <a:endParaRPr lang="ru-RU" dirty="0">
              <a:latin typeface="Bookman Old Style" panose="02050604050505020204" pitchFamily="18" charset="0"/>
            </a:endParaRPr>
          </a:p>
          <a:p>
            <a:pPr algn="just"/>
            <a:r>
              <a:rPr lang="en-US" b="1" dirty="0" err="1" smtClean="0">
                <a:latin typeface="Bookman Old Style" panose="02050604050505020204" pitchFamily="18" charset="0"/>
              </a:rPr>
              <a:t>elem.style</a:t>
            </a:r>
            <a:r>
              <a:rPr lang="en-US" b="1" dirty="0" smtClean="0">
                <a:latin typeface="Bookman Old Style" panose="02050604050505020204" pitchFamily="18" charset="0"/>
              </a:rPr>
              <a:t> – </a:t>
            </a:r>
            <a:r>
              <a:rPr lang="ru-RU" dirty="0" smtClean="0">
                <a:latin typeface="Bookman Old Style" panose="02050604050505020204" pitchFamily="18" charset="0"/>
              </a:rPr>
              <a:t>объект, который содержит все </a:t>
            </a:r>
            <a:r>
              <a:rPr lang="en-US" dirty="0" smtClean="0">
                <a:latin typeface="Bookman Old Style" panose="02050604050505020204" pitchFamily="18" charset="0"/>
              </a:rPr>
              <a:t>CSS-</a:t>
            </a:r>
            <a:r>
              <a:rPr lang="ru-RU" dirty="0" smtClean="0">
                <a:latin typeface="Bookman Old Style" panose="02050604050505020204" pitchFamily="18" charset="0"/>
              </a:rPr>
              <a:t>свойства,  и мы можем изменять эти свойства динамически, как будто делаем это в </a:t>
            </a:r>
            <a:r>
              <a:rPr lang="en-US" dirty="0" smtClean="0">
                <a:latin typeface="Bookman Old Style" panose="02050604050505020204" pitchFamily="18" charset="0"/>
              </a:rPr>
              <a:t>CSS</a:t>
            </a:r>
            <a:r>
              <a:rPr lang="ru-RU" dirty="0" smtClean="0">
                <a:latin typeface="Bookman Old Style" panose="02050604050505020204" pitchFamily="18" charset="0"/>
              </a:rPr>
              <a:t>. При написании свойства все </a:t>
            </a:r>
            <a:r>
              <a:rPr lang="en-US" dirty="0" smtClean="0">
                <a:latin typeface="Bookman Old Style" panose="02050604050505020204" pitchFamily="18" charset="0"/>
              </a:rPr>
              <a:t>“-”</a:t>
            </a:r>
            <a:r>
              <a:rPr lang="ru-RU" dirty="0" smtClean="0">
                <a:latin typeface="Bookman Old Style" panose="02050604050505020204" pitchFamily="18" charset="0"/>
              </a:rPr>
              <a:t> </a:t>
            </a:r>
            <a:r>
              <a:rPr lang="ru-RU" dirty="0" err="1" smtClean="0">
                <a:latin typeface="Bookman Old Style" panose="02050604050505020204" pitchFamily="18" charset="0"/>
              </a:rPr>
              <a:t>необхоимо</a:t>
            </a:r>
            <a:r>
              <a:rPr lang="ru-RU" dirty="0" smtClean="0">
                <a:latin typeface="Bookman Old Style" panose="02050604050505020204" pitchFamily="18" charset="0"/>
              </a:rPr>
              <a:t> менять на </a:t>
            </a:r>
            <a:r>
              <a:rPr lang="en-US" dirty="0" err="1" smtClean="0">
                <a:latin typeface="Bookman Old Style" panose="02050604050505020204" pitchFamily="18" charset="0"/>
              </a:rPr>
              <a:t>camelCase</a:t>
            </a:r>
            <a:r>
              <a:rPr lang="ru-RU" dirty="0" smtClean="0">
                <a:latin typeface="Bookman Old Style" panose="02050604050505020204" pitchFamily="18" charset="0"/>
              </a:rPr>
              <a:t>, например </a:t>
            </a:r>
            <a:r>
              <a:rPr lang="en-US" dirty="0" smtClean="0">
                <a:latin typeface="Bookman Old Style" panose="02050604050505020204" pitchFamily="18" charset="0"/>
              </a:rPr>
              <a:t>background-color</a:t>
            </a:r>
            <a:r>
              <a:rPr lang="ru-RU" dirty="0" smtClean="0">
                <a:latin typeface="Bookman Old Style" panose="02050604050505020204" pitchFamily="18" charset="0"/>
              </a:rPr>
              <a:t> здесь будет выглядеть как </a:t>
            </a:r>
            <a:r>
              <a:rPr lang="en-US" dirty="0" err="1" smtClean="0">
                <a:latin typeface="Bookman Old Style" panose="02050604050505020204" pitchFamily="18" charset="0"/>
              </a:rPr>
              <a:t>backgroundColor</a:t>
            </a:r>
            <a:endParaRPr lang="en-US" dirty="0" smtClean="0">
              <a:latin typeface="Bookman Old Style" panose="02050604050505020204" pitchFamily="18" charset="0"/>
            </a:endParaRPr>
          </a:p>
          <a:p>
            <a:pPr algn="just"/>
            <a:endParaRPr lang="en-US" b="1" dirty="0">
              <a:latin typeface="Bookman Old Style" panose="02050604050505020204" pitchFamily="18" charset="0"/>
            </a:endParaRPr>
          </a:p>
          <a:p>
            <a:pPr algn="just"/>
            <a:r>
              <a:rPr lang="en-US" b="1" dirty="0" err="1" smtClean="0">
                <a:latin typeface="Bookman Old Style" panose="02050604050505020204" pitchFamily="18" charset="0"/>
              </a:rPr>
              <a:t>elem-innerHTML</a:t>
            </a:r>
            <a:r>
              <a:rPr lang="en-US" b="1" dirty="0" smtClean="0">
                <a:latin typeface="Bookman Old Style" panose="02050604050505020204" pitchFamily="18" charset="0"/>
              </a:rPr>
              <a:t> – </a:t>
            </a:r>
            <a:r>
              <a:rPr lang="ru-RU" dirty="0" smtClean="0">
                <a:latin typeface="Bookman Old Style" panose="02050604050505020204" pitchFamily="18" charset="0"/>
              </a:rPr>
              <a:t>переменная, в которой находится все содержимое элемента в строковом формате</a:t>
            </a:r>
          </a:p>
          <a:p>
            <a:pPr algn="just"/>
            <a:endParaRPr lang="ru-RU" b="1" dirty="0">
              <a:latin typeface="Bookman Old Style" panose="02050604050505020204" pitchFamily="18" charset="0"/>
            </a:endParaRPr>
          </a:p>
          <a:p>
            <a:pPr algn="just"/>
            <a:r>
              <a:rPr lang="en-US" b="1" dirty="0" err="1" smtClean="0">
                <a:latin typeface="Bookman Old Style" panose="02050604050505020204" pitchFamily="18" charset="0"/>
              </a:rPr>
              <a:t>elem-className</a:t>
            </a:r>
            <a:r>
              <a:rPr lang="en-US" b="1" dirty="0" smtClean="0">
                <a:latin typeface="Bookman Old Style" panose="02050604050505020204" pitchFamily="18" charset="0"/>
              </a:rPr>
              <a:t> – </a:t>
            </a:r>
            <a:r>
              <a:rPr lang="ru-RU" dirty="0" smtClean="0">
                <a:latin typeface="Bookman Old Style" panose="02050604050505020204" pitchFamily="18" charset="0"/>
              </a:rPr>
              <a:t>переменная, в которой находится содержимое атрибута </a:t>
            </a:r>
            <a:r>
              <a:rPr lang="en-US" dirty="0" smtClean="0">
                <a:latin typeface="Bookman Old Style" panose="02050604050505020204" pitchFamily="18" charset="0"/>
              </a:rPr>
              <a:t>class</a:t>
            </a:r>
            <a:r>
              <a:rPr lang="ru-RU" dirty="0" smtClean="0">
                <a:latin typeface="Bookman Old Style" panose="02050604050505020204" pitchFamily="18" charset="0"/>
              </a:rPr>
              <a:t> в строковом формате</a:t>
            </a:r>
          </a:p>
          <a:p>
            <a:pPr algn="just"/>
            <a:endParaRPr lang="ru-RU" b="1" dirty="0">
              <a:latin typeface="Bookman Old Style" panose="02050604050505020204" pitchFamily="18" charset="0"/>
            </a:endParaRPr>
          </a:p>
          <a:p>
            <a:pPr algn="just"/>
            <a:r>
              <a:rPr lang="en-US" b="1" dirty="0" err="1" smtClean="0">
                <a:latin typeface="Bookman Old Style" panose="02050604050505020204" pitchFamily="18" charset="0"/>
              </a:rPr>
              <a:t>elem.classList</a:t>
            </a:r>
            <a:r>
              <a:rPr lang="en-US" b="1" dirty="0" smtClean="0">
                <a:latin typeface="Bookman Old Style" panose="02050604050505020204" pitchFamily="18" charset="0"/>
              </a:rPr>
              <a:t> – </a:t>
            </a:r>
            <a:r>
              <a:rPr lang="ru-RU" dirty="0" smtClean="0">
                <a:latin typeface="Bookman Old Style" panose="02050604050505020204" pitchFamily="18" charset="0"/>
              </a:rPr>
              <a:t>объект, который содержит список всех классов элемента, а также предоставляющий удобный интерфейс для изменения атрибута </a:t>
            </a:r>
            <a:r>
              <a:rPr lang="en-US" dirty="0" smtClean="0">
                <a:latin typeface="Bookman Old Style" panose="02050604050505020204" pitchFamily="18" charset="0"/>
              </a:rPr>
              <a:t>class</a:t>
            </a:r>
            <a:endParaRPr lang="ru-RU" dirty="0" smtClean="0">
              <a:latin typeface="Bookman Old Style" panose="0205060405050502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>
                <a:latin typeface="Bookman Old Style" panose="02050604050505020204" pitchFamily="18" charset="0"/>
              </a:rPr>
              <a:t>elem.classList.add</a:t>
            </a:r>
            <a:r>
              <a:rPr lang="en-US" b="1" dirty="0">
                <a:latin typeface="Bookman Old Style" panose="02050604050505020204" pitchFamily="18" charset="0"/>
              </a:rPr>
              <a:t>(‘</a:t>
            </a:r>
            <a:r>
              <a:rPr lang="en-US" b="1" dirty="0" err="1">
                <a:latin typeface="Bookman Old Style" panose="02050604050505020204" pitchFamily="18" charset="0"/>
              </a:rPr>
              <a:t>className</a:t>
            </a:r>
            <a:r>
              <a:rPr lang="en-US" b="1" dirty="0">
                <a:latin typeface="Bookman Old Style" panose="02050604050505020204" pitchFamily="18" charset="0"/>
              </a:rPr>
              <a:t>’) – </a:t>
            </a:r>
            <a:r>
              <a:rPr lang="ru-RU" dirty="0">
                <a:latin typeface="Bookman Old Style" panose="02050604050505020204" pitchFamily="18" charset="0"/>
              </a:rPr>
              <a:t>функция, которая позволяет добавить класс (классы)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>
                <a:latin typeface="Bookman Old Style" panose="02050604050505020204" pitchFamily="18" charset="0"/>
              </a:rPr>
              <a:t>elem.classList.remove</a:t>
            </a:r>
            <a:r>
              <a:rPr lang="en-US" b="1" dirty="0">
                <a:latin typeface="Bookman Old Style" panose="02050604050505020204" pitchFamily="18" charset="0"/>
              </a:rPr>
              <a:t>(‘</a:t>
            </a:r>
            <a:r>
              <a:rPr lang="en-US" b="1" dirty="0" err="1">
                <a:latin typeface="Bookman Old Style" panose="02050604050505020204" pitchFamily="18" charset="0"/>
              </a:rPr>
              <a:t>className</a:t>
            </a:r>
            <a:r>
              <a:rPr lang="en-US" b="1" dirty="0">
                <a:latin typeface="Bookman Old Style" panose="02050604050505020204" pitchFamily="18" charset="0"/>
              </a:rPr>
              <a:t>’) – </a:t>
            </a:r>
            <a:r>
              <a:rPr lang="ru-RU" dirty="0">
                <a:latin typeface="Bookman Old Style" panose="02050604050505020204" pitchFamily="18" charset="0"/>
              </a:rPr>
              <a:t>функция, которая позволяет удалить класс (классы)</a:t>
            </a:r>
            <a:endParaRPr lang="en-US" b="1" dirty="0">
              <a:latin typeface="Bookman Old Style" panose="0205060405050502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Bookman Old Style" panose="02050604050505020204" pitchFamily="18" charset="0"/>
              </a:rPr>
              <a:t>elem.classList.toggle</a:t>
            </a:r>
            <a:r>
              <a:rPr lang="en-US" b="1" dirty="0" smtClean="0">
                <a:latin typeface="Bookman Old Style" panose="02050604050505020204" pitchFamily="18" charset="0"/>
              </a:rPr>
              <a:t>(‘</a:t>
            </a:r>
            <a:r>
              <a:rPr lang="en-US" b="1" dirty="0" err="1" smtClean="0">
                <a:latin typeface="Bookman Old Style" panose="02050604050505020204" pitchFamily="18" charset="0"/>
              </a:rPr>
              <a:t>className</a:t>
            </a:r>
            <a:r>
              <a:rPr lang="en-US" b="1" dirty="0" smtClean="0">
                <a:latin typeface="Bookman Old Style" panose="02050604050505020204" pitchFamily="18" charset="0"/>
              </a:rPr>
              <a:t>’) – </a:t>
            </a:r>
            <a:r>
              <a:rPr lang="ru-RU" dirty="0" smtClean="0">
                <a:latin typeface="Bookman Old Style" panose="02050604050505020204" pitchFamily="18" charset="0"/>
              </a:rPr>
              <a:t>функция, которая позволяет добавить класс (классы), если его нет, или удалить класс (классы), если они есть</a:t>
            </a:r>
          </a:p>
          <a:p>
            <a:pPr algn="just"/>
            <a:endParaRPr lang="ru-RU" sz="1500" b="1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5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512" y="620688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</a:rPr>
              <a:t>ВЗАИМОДЕЙСТВИЕ С </a:t>
            </a:r>
            <a:r>
              <a:rPr lang="en-US" sz="2800" b="1" dirty="0" smtClean="0">
                <a:latin typeface="Bookman Old Style" panose="02050604050505020204" pitchFamily="18" charset="0"/>
              </a:rPr>
              <a:t>DOM</a:t>
            </a:r>
            <a:r>
              <a:rPr lang="ru-RU" sz="2800" b="1" dirty="0" smtClean="0">
                <a:latin typeface="Bookman Old Style" panose="02050604050505020204" pitchFamily="18" charset="0"/>
              </a:rPr>
              <a:t> ЭЛЕМЕНТОМ</a:t>
            </a:r>
            <a:endParaRPr lang="ru-RU" sz="2800" b="1" dirty="0">
              <a:latin typeface="Bookman Old Style" panose="020506040505050202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64" y="1342538"/>
            <a:ext cx="8076639" cy="1159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64" y="3068960"/>
            <a:ext cx="8056210" cy="86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581128"/>
            <a:ext cx="8067564" cy="100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44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AutoShape 2" descr="https://previews.dropbox.com/p/thumb/ABAGK9H7a81fbpyPOaGLCYPlCZRk9EeewP5MC55IoMDaD8UqtbtffroWsCKDesyE_KDrmjUPjUe1J9nduN1H5sYWNieq2qoUvVuR7n5vnlh5264Q1benAF6OmyMrZkbuwl53bSbPCT0SBkeePzuBUmoQFDj0yTXw-Ehhwdmz9Tteii-F5SGHx0b72MLcNwuKkiiqpViqvuBE8XkYjgj0hVuD990mADRwAtaBNVAzmTcW4_ePnHYuskd9K1StR12hykTVAYy6D-AfX-Y8A3fEAWagweIb4yTnOlTCHl7LPLc9NkXJlwy1WcS6bIf-y6_AlVY-u8iPSOzsallZ_SudQZxx-K6I-XQIACDWCDXKnhbcTA/p.png?fv_content=true&amp;size_mode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https://previews.dropbox.com/p/thumb/ABAGK9H7a81fbpyPOaGLCYPlCZRk9EeewP5MC55IoMDaD8UqtbtffroWsCKDesyE_KDrmjUPjUe1J9nduN1H5sYWNieq2qoUvVuR7n5vnlh5264Q1benAF6OmyMrZkbuwl53bSbPCT0SBkeePzuBUmoQFDj0yTXw-Ehhwdmz9Tteii-F5SGHx0b72MLcNwuKkiiqpViqvuBE8XkYjgj0hVuD990mADRwAtaBNVAzmTcW4_ePnHYuskd9K1StR12hykTVAYy6D-AfX-Y8A3fEAWagweIb4yTnOlTCHl7LPLc9NkXJlwy1WcS6bIf-y6_AlVY-u8iPSOzsallZ_SudQZxx-K6I-XQIACDWCDXKnhbcTA/p.png?fv_content=true&amp;size_mode=5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6" descr="https://previews.dropbox.com/p/thumb/ABAGK9H7a81fbpyPOaGLCYPlCZRk9EeewP5MC55IoMDaD8UqtbtffroWsCKDesyE_KDrmjUPjUe1J9nduN1H5sYWNieq2qoUvVuR7n5vnlh5264Q1benAF6OmyMrZkbuwl53bSbPCT0SBkeePzuBUmoQFDj0yTXw-Ehhwdmz9Tteii-F5SGHx0b72MLcNwuKkiiqpViqvuBE8XkYjgj0hVuD990mADRwAtaBNVAzmTcW4_ePnHYuskd9K1StR12hykTVAYy6D-AfX-Y8A3fEAWagweIb4yTnOlTCHl7LPLc9NkXJlwy1WcS6bIf-y6_AlVY-u8iPSOzsallZ_SudQZxx-K6I-XQIACDWCDXKnhbcTA/p.png?fv_content=true&amp;size_mode=5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8" descr="https://previews.dropbox.com/p/thumb/ABAGK9H7a81fbpyPOaGLCYPlCZRk9EeewP5MC55IoMDaD8UqtbtffroWsCKDesyE_KDrmjUPjUe1J9nduN1H5sYWNieq2qoUvVuR7n5vnlh5264Q1benAF6OmyMrZkbuwl53bSbPCT0SBkeePzuBUmoQFDj0yTXw-Ehhwdmz9Tteii-F5SGHx0b72MLcNwuKkiiqpViqvuBE8XkYjgj0hVuD990mADRwAtaBNVAzmTcW4_ePnHYuskd9K1StR12hykTVAYy6D-AfX-Y8A3fEAWagweIb4yTnOlTCHl7LPLc9NkXJlwy1WcS6bIf-y6_AlVY-u8iPSOzsallZ_SudQZxx-K6I-XQIACDWCDXKnhbcTA/p.png?fv_content=true&amp;size_mode=5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3" name="Picture 9" descr="C:\Users\Yuklya\Downloads\dom-links-elemen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56" y="1052736"/>
            <a:ext cx="7161766" cy="51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1" descr="https://previews.dropbox.com/p/thumb/ABAGK9H7a81fbpyPOaGLCYPlCZRk9EeewP5MC55IoMDaD8UqtbtffroWsCKDesyE_KDrmjUPjUe1J9nduN1H5sYWNieq2qoUvVuR7n5vnlh5264Q1benAF6OmyMrZkbuwl53bSbPCT0SBkeePzuBUmoQFDj0yTXw-Ehhwdmz9Tteii-F5SGHx0b72MLcNwuKkiiqpViqvuBE8XkYjgj0hVuD990mADRwAtaBNVAzmTcW4_ePnHYuskd9K1StR12hykTVAYy6D-AfX-Y8A3fEAWagweIb4yTnOlTCHl7LPLc9NkXJlwy1WcS6bIf-y6_AlVY-u8iPSOzsallZ_SudQZxx-K6I-XQIACDWCDXKnhbcTA/p.png?fv_content=true&amp;size_mode=5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79512" y="620688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Bookman Old Style" panose="02050604050505020204" pitchFamily="18" charset="0"/>
              </a:rPr>
              <a:t>DOM</a:t>
            </a:r>
            <a:endParaRPr lang="ru-RU" sz="32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32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9512" y="620688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</a:rPr>
              <a:t>СОБЫТИЯ</a:t>
            </a:r>
            <a:endParaRPr lang="ru-RU" sz="2800" b="1" dirty="0">
              <a:latin typeface="Bookman Old Style" panose="020506040505050202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67544" y="1143908"/>
            <a:ext cx="806489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Bookman Old Style" panose="02050604050505020204" pitchFamily="18" charset="0"/>
              </a:rPr>
              <a:t>Каждый </a:t>
            </a:r>
            <a:r>
              <a:rPr lang="en-US" sz="1500" dirty="0" smtClean="0">
                <a:latin typeface="Bookman Old Style" panose="02050604050505020204" pitchFamily="18" charset="0"/>
              </a:rPr>
              <a:t>DOM</a:t>
            </a:r>
            <a:r>
              <a:rPr lang="ru-RU" sz="1500" dirty="0" smtClean="0">
                <a:latin typeface="Bookman Old Style" panose="02050604050505020204" pitchFamily="18" charset="0"/>
              </a:rPr>
              <a:t> элемент содержит список событий, которые происходят, когда пользователь или браузер взаимодействуют со страницей. Все свойства элемента, которые отвечают за события, начинаются с префикса </a:t>
            </a:r>
            <a:r>
              <a:rPr lang="en-US" sz="1500" dirty="0" smtClean="0">
                <a:latin typeface="Bookman Old Style" panose="02050604050505020204" pitchFamily="18" charset="0"/>
              </a:rPr>
              <a:t>“on” </a:t>
            </a:r>
            <a:r>
              <a:rPr lang="ru-RU" sz="1500" dirty="0" smtClean="0">
                <a:latin typeface="Bookman Old Style" panose="02050604050505020204" pitchFamily="18" charset="0"/>
              </a:rPr>
              <a:t>, например </a:t>
            </a:r>
            <a:r>
              <a:rPr lang="en-US" sz="1500" dirty="0" err="1" smtClean="0">
                <a:latin typeface="Bookman Old Style" panose="02050604050505020204" pitchFamily="18" charset="0"/>
              </a:rPr>
              <a:t>onclick</a:t>
            </a:r>
            <a:r>
              <a:rPr lang="ru-RU" sz="1500" dirty="0" smtClean="0">
                <a:latin typeface="Bookman Old Style" panose="02050604050505020204" pitchFamily="18" charset="0"/>
              </a:rPr>
              <a:t>.</a:t>
            </a:r>
          </a:p>
          <a:p>
            <a:pPr algn="just"/>
            <a:endParaRPr lang="ru-RU" sz="1500" b="1" dirty="0">
              <a:latin typeface="Bookman Old Style" panose="02050604050505020204" pitchFamily="18" charset="0"/>
            </a:endParaRPr>
          </a:p>
          <a:p>
            <a:pPr algn="just"/>
            <a:r>
              <a:rPr lang="ru-RU" sz="1500" dirty="0" smtClean="0">
                <a:latin typeface="Bookman Old Style" panose="02050604050505020204" pitchFamily="18" charset="0"/>
              </a:rPr>
              <a:t>Мы можем </a:t>
            </a:r>
            <a:r>
              <a:rPr lang="en-US" sz="1500" dirty="0" smtClean="0">
                <a:latin typeface="Bookman Old Style" panose="02050604050505020204" pitchFamily="18" charset="0"/>
              </a:rPr>
              <a:t>“</a:t>
            </a:r>
            <a:r>
              <a:rPr lang="ru-RU" sz="1500" dirty="0" smtClean="0">
                <a:latin typeface="Bookman Old Style" panose="02050604050505020204" pitchFamily="18" charset="0"/>
              </a:rPr>
              <a:t>подписаться</a:t>
            </a:r>
            <a:r>
              <a:rPr lang="en-US" sz="1500" dirty="0" smtClean="0">
                <a:latin typeface="Bookman Old Style" panose="02050604050505020204" pitchFamily="18" charset="0"/>
              </a:rPr>
              <a:t>”</a:t>
            </a:r>
            <a:r>
              <a:rPr lang="ru-RU" sz="1500" dirty="0" smtClean="0">
                <a:latin typeface="Bookman Old Style" panose="02050604050505020204" pitchFamily="18" charset="0"/>
              </a:rPr>
              <a:t> на события, т.е. присвоить функцию к событию, которая будет выполняться только тогда, когда это событие произойдет.</a:t>
            </a:r>
            <a:endParaRPr lang="ru-RU" sz="1500" b="1" dirty="0" smtClean="0">
              <a:latin typeface="Bookman Old Style" panose="020506040505050202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7698" y="4255076"/>
            <a:ext cx="8064896" cy="75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Bookman Old Style" panose="02050604050505020204" pitchFamily="18" charset="0"/>
              </a:rPr>
              <a:t>Также подписаться на событие мы можем использовать функцию </a:t>
            </a:r>
            <a:r>
              <a:rPr lang="en-US" b="1" dirty="0" err="1" smtClean="0">
                <a:latin typeface="Bookman Old Style" panose="02050604050505020204" pitchFamily="18" charset="0"/>
              </a:rPr>
              <a:t>addEventListenner</a:t>
            </a:r>
            <a:r>
              <a:rPr lang="en-US" b="1" dirty="0" smtClean="0">
                <a:latin typeface="Bookman Old Style" panose="02050604050505020204" pitchFamily="18" charset="0"/>
              </a:rPr>
              <a:t>(‘</a:t>
            </a:r>
            <a:r>
              <a:rPr lang="en-US" b="1" dirty="0" err="1" smtClean="0">
                <a:latin typeface="Bookman Old Style" panose="02050604050505020204" pitchFamily="18" charset="0"/>
              </a:rPr>
              <a:t>eventName</a:t>
            </a:r>
            <a:r>
              <a:rPr lang="en-US" b="1" dirty="0" smtClean="0">
                <a:latin typeface="Bookman Old Style" panose="02050604050505020204" pitchFamily="18" charset="0"/>
              </a:rPr>
              <a:t>’, function) </a:t>
            </a:r>
            <a:r>
              <a:rPr lang="en-US" dirty="0" smtClean="0">
                <a:latin typeface="Bookman Old Style" panose="02050604050505020204" pitchFamily="18" charset="0"/>
              </a:rPr>
              <a:t>– </a:t>
            </a:r>
            <a:r>
              <a:rPr lang="ru-RU" dirty="0" smtClean="0">
                <a:latin typeface="Bookman Old Style" panose="02050604050505020204" pitchFamily="18" charset="0"/>
              </a:rPr>
              <a:t>которая принимает имя события (уже без префикса </a:t>
            </a:r>
            <a:r>
              <a:rPr lang="en-US" dirty="0" smtClean="0">
                <a:latin typeface="Bookman Old Style" panose="02050604050505020204" pitchFamily="18" charset="0"/>
              </a:rPr>
              <a:t>“on”</a:t>
            </a:r>
            <a:r>
              <a:rPr lang="ru-RU" dirty="0" smtClean="0">
                <a:latin typeface="Bookman Old Style" panose="02050604050505020204" pitchFamily="18" charset="0"/>
              </a:rPr>
              <a:t>), и </a:t>
            </a:r>
            <a:r>
              <a:rPr lang="ru-RU" sz="1500" dirty="0" smtClean="0">
                <a:latin typeface="Bookman Old Style" panose="02050604050505020204" pitchFamily="18" charset="0"/>
              </a:rPr>
              <a:t>функцию</a:t>
            </a:r>
            <a:r>
              <a:rPr lang="ru-RU" dirty="0" smtClean="0">
                <a:latin typeface="Bookman Old Style" panose="02050604050505020204" pitchFamily="18" charset="0"/>
              </a:rPr>
              <a:t>, которая вызывается в момент события</a:t>
            </a:r>
            <a:endParaRPr lang="ru-RU" sz="15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36" y="2854719"/>
            <a:ext cx="7952111" cy="1393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10" y="5014203"/>
            <a:ext cx="798442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34961" y="6088169"/>
            <a:ext cx="80648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Bookman Old Style" panose="02050604050505020204" pitchFamily="18" charset="0"/>
              </a:rPr>
              <a:t>Список событий можно найти по ссылке </a:t>
            </a:r>
            <a:r>
              <a:rPr lang="ru-RU" dirty="0" smtClean="0">
                <a:latin typeface="Bookman Old Style" panose="02050604050505020204" pitchFamily="18" charset="0"/>
                <a:hlinkClick r:id="rId5"/>
              </a:rPr>
              <a:t>ссылка</a:t>
            </a:r>
            <a:endParaRPr lang="ru-RU" sz="1500" b="1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33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7772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95" y="2014885"/>
            <a:ext cx="7758113" cy="395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26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7772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02" y="1992784"/>
            <a:ext cx="7778750" cy="341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95" y="5410671"/>
            <a:ext cx="77644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250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24" y="985540"/>
            <a:ext cx="7772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24" y="1988840"/>
            <a:ext cx="7758113" cy="405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25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 l="-16999" r="-4998"/>
          </a:stretch>
        </a:blipFill>
        <a:effectLst/>
      </p:bgPr>
    </p:bg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sign_simpl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esign_simpl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3053</TotalTime>
  <Words>633</Words>
  <Application>Microsoft Office PowerPoint</Application>
  <PresentationFormat>Экран (4:3)</PresentationFormat>
  <Paragraphs>57</Paragraphs>
  <Slides>12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3_Design_simple</vt:lpstr>
      <vt:lpstr>2_Design_simple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Yuklya</dc:creator>
  <cp:lastModifiedBy>Yuklya</cp:lastModifiedBy>
  <cp:revision>22</cp:revision>
  <dcterms:modified xsi:type="dcterms:W3CDTF">2021-01-18T19:10:05Z</dcterms:modified>
</cp:coreProperties>
</file>